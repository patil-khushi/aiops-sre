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519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21295C">
              <a:alpha val="80000"/>
            </a:srgbClr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2423160"/>
            <a:ext cx="6400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AIOps + SRE Ops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agents  •  SRE woven through every phase  •  Dedicated RCA Agent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architects, SRE leads, platform engineering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Enterprise Architecture  •  v2.0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with SRE Ops woven through every phase.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AIOps + SRE Ops  •  Solution Design  •  v2.0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20299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overview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3225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+ SRE integration model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20116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8000" y="20299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principles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0" y="23225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Non-negotiables we design against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6517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26700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decomposition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29626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agents, responsibilities, SRE &amp; RCA highlighted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65176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26517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58000" y="26700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integration matrix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0" y="29626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× vendor mapping, swap-in paths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29184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291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88720" y="33101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88720" y="36027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humans approve, train, and override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29184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0" y="3291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58000" y="33101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58000" y="36027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Four-stage, 20-week plan with SRE exit criteria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93192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3931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188720" y="39502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KPIs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88720" y="42428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Operational, predictive, financial, SRE reliability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93192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17920" y="3931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858000" y="39502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858000" y="42428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wrong, and how we handle it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of AIOps maturity. SRE discipline in every phase. RCA Agent as closing-loop differentiator.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AIOps + SRE Ops  •  Solution Design  •  v2.0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69748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Reactive-Active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agents (1 SRE)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 → Triage → Respond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42062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alert noise. Accelerate MTTA/MTTR. SRE Incident Commander runs Sev-1/2.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201168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29000" y="2011680"/>
            <a:ext cx="2697480" cy="5029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29000" y="20116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743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agents (1 SRE)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3291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Sense → Correlate → Warn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42062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drift and anomalies before they breach. Toil Detector finds automation wins.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01168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09360" y="2011680"/>
            <a:ext cx="269748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20116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2743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agents (1 SRE)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291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→ Rank → Prevent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2062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failures and SLO breaches in advance. Reliability Forecaster flags at-risk services weeks ahead.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89720" y="201168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189720" y="2011680"/>
            <a:ext cx="2697480" cy="50292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89720" y="20116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Prescriptive-Adaptive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89720" y="2743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agents (2 SRE+RCA)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72600" y="3291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 → Execute → Learn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18320" y="42062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Agent produces fix steps. Chaos Orchestrator validates resilience. Continuous learning closes the loop.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agents total. Each individually licensable. SRE agents and the RCA Agent are integrated — not bolted 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Architectural principles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constraints every component must respect.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AIOps + SRE Ops  •  Solution Design  •  v2.0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40680" cy="14173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914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 by default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is coupled to a single tool vendor. Every integration has at least two swap-in alternatives documented.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440680" cy="14173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914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9659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and individually sellable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3774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a standalone unit with a stable contract. License one, some, or all — including the RCA Agent standalone.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40680" cy="14173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914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5204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discipline, first-class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93192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budgets, toil, chaos, and postmortems are integrated agents, not separate tooling. Every phase has an SRE agent.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383280"/>
            <a:ext cx="5440680" cy="14173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3383280"/>
            <a:ext cx="914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35204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governance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393192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— especially RCA Agent fix steps — passes through a declarative policy layer before execution.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5440680" cy="14173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914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50749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autonomy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548640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actions require HITL by default. Agents have dry-run, simulation, circuit-breaker, and rollback as first-class primitives.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4937760"/>
            <a:ext cx="5440680" cy="14173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17920" y="4937760"/>
            <a:ext cx="914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0" y="50749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learning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92240" y="548640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outcome is captured. Every model, prompt, and policy is versioned and evaluated in a shadow harness before promotion.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PHASE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Reactive-Active — agents &amp; responsibilities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agents. 1 SRE / RCA highlighted in gold.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AIOps + SRE Ops  •  Solution Design  •  v2.0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2376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332720" y="1783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11064240" cy="451485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22860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17520" y="2194560"/>
            <a:ext cx="41148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Deduplicate, score severity, assign ownership within seconds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223760" y="2194560"/>
            <a:ext cx="30175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SNOW, Splunk, PagerDuty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332720" y="2194560"/>
            <a:ext cx="11887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646045"/>
            <a:ext cx="11064240" cy="451485"/>
          </a:xfrm>
          <a:prstGeom prst="rect">
            <a:avLst/>
          </a:prstGeom>
          <a:solidFill>
            <a:srgbClr val="F4F7FB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2646045"/>
            <a:ext cx="22860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Classifier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2646045"/>
            <a:ext cx="41148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classification + similar-incident retrieval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223760" y="2646045"/>
            <a:ext cx="30175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SNOW, Jira SM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332720" y="2646045"/>
            <a:ext cx="11887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097530"/>
            <a:ext cx="11064240" cy="451485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097530"/>
            <a:ext cx="22860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Auto-Ticketing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17520" y="3097530"/>
            <a:ext cx="41148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Create/update/close tickets with CMDB-enriched context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23760" y="3097530"/>
            <a:ext cx="30175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SNOW, Jira, BMC Helix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332720" y="3097530"/>
            <a:ext cx="11887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549015"/>
            <a:ext cx="11064240" cy="451485"/>
          </a:xfrm>
          <a:prstGeom prst="rect">
            <a:avLst/>
          </a:prstGeom>
          <a:solidFill>
            <a:srgbClr val="F4F7FB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3549015"/>
            <a:ext cx="22860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Executor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17520" y="3549015"/>
            <a:ext cx="41148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run the right runbook with rollback hooks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23760" y="3549015"/>
            <a:ext cx="30175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Ansible, Azure Automation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332720" y="3549015"/>
            <a:ext cx="11887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000500"/>
            <a:ext cx="11064240" cy="451485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5800" y="4000500"/>
            <a:ext cx="22860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Router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017520" y="4000500"/>
            <a:ext cx="41148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delivery via on-call, channel, policy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23760" y="4000500"/>
            <a:ext cx="30175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PagerDuty, Teams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332720" y="4000500"/>
            <a:ext cx="11887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4451985"/>
            <a:ext cx="11064240" cy="451485"/>
          </a:xfrm>
          <a:prstGeom prst="rect">
            <a:avLst/>
          </a:prstGeom>
          <a:solidFill>
            <a:srgbClr val="F4F7FB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5800" y="4451985"/>
            <a:ext cx="22860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War-Room Assembler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017520" y="4451985"/>
            <a:ext cx="41148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bridge + SME invite + live context pack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223760" y="4451985"/>
            <a:ext cx="30175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Zoom, SNOW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332720" y="4451985"/>
            <a:ext cx="11887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4903470"/>
            <a:ext cx="11064240" cy="451485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5800" y="4903470"/>
            <a:ext cx="22860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Correlation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017520" y="4903470"/>
            <a:ext cx="41148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Cross-signal evidence assembly in real time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23760" y="4903470"/>
            <a:ext cx="30175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Splunk, Elastic, Dynatrace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332720" y="4903470"/>
            <a:ext cx="11887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5354955"/>
            <a:ext cx="11064240" cy="451485"/>
          </a:xfrm>
          <a:prstGeom prst="rect">
            <a:avLst/>
          </a:prstGeom>
          <a:solidFill>
            <a:srgbClr val="FFF7E0"/>
          </a:solidFill>
          <a:ln w="12700">
            <a:solidFill>
              <a:srgbClr val="E8B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5800" y="5354955"/>
            <a:ext cx="22860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Commander (SRE)  ◆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017520" y="5354955"/>
            <a:ext cx="41148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SRE-driven Sev-1/2 coordination: timeline, comms, postmortem seed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223760" y="5354955"/>
            <a:ext cx="30175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PagerDuty, Teams, Statuspage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0332720" y="5354955"/>
            <a:ext cx="11887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48640" y="5943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→ Triage → Classify → Ticket → Notify → Runbook → SRE IC runs the war-room → Evidence pack + postmortem seed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PHASE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— agents &amp; responsibilities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agents. 1 SRE / RCA highlighted in gold.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AIOps + SRE Ops  •  Solution Design  •  v2.0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2376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332720" y="1783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11064240" cy="515983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22860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17520" y="2194560"/>
            <a:ext cx="41148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Seasonality-aware deviation detection on metrics/logs/traces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223760" y="2194560"/>
            <a:ext cx="30175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Dynatrace, AppD, Splunk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332720" y="2194560"/>
            <a:ext cx="11887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710543"/>
            <a:ext cx="11064240" cy="515983"/>
          </a:xfrm>
          <a:prstGeom prst="rect">
            <a:avLst/>
          </a:prstGeom>
          <a:solidFill>
            <a:srgbClr val="F4F7FB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2710543"/>
            <a:ext cx="22860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2710543"/>
            <a:ext cx="41148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IaC, and data drift against known-good baselines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223760" y="2710543"/>
            <a:ext cx="30175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Policy, SNOW Config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332720" y="2710543"/>
            <a:ext cx="11887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226526"/>
            <a:ext cx="11064240" cy="515983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226526"/>
            <a:ext cx="22860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Mapper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17520" y="3226526"/>
            <a:ext cx="41148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topology graph for blast-radius and impact analysis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23760" y="3226526"/>
            <a:ext cx="30175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Dynatrace, AppD, SNOW Disc.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332720" y="3226526"/>
            <a:ext cx="11887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742509"/>
            <a:ext cx="11064240" cy="515983"/>
          </a:xfrm>
          <a:prstGeom prst="rect">
            <a:avLst/>
          </a:prstGeom>
          <a:solidFill>
            <a:srgbClr val="F4F7FB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3742509"/>
            <a:ext cx="22860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17520" y="3742509"/>
            <a:ext cx="41148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clustering and noise suppression as code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23760" y="3742509"/>
            <a:ext cx="30175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ITSI, BigPanda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332720" y="3742509"/>
            <a:ext cx="11887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258491"/>
            <a:ext cx="11064240" cy="515983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5800" y="4258491"/>
            <a:ext cx="22860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017520" y="4258491"/>
            <a:ext cx="41148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fusion → ranked business-impact warnings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23760" y="4258491"/>
            <a:ext cx="30175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Dynatrace, Splunk, AppD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332720" y="4258491"/>
            <a:ext cx="11887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4774474"/>
            <a:ext cx="11064240" cy="515983"/>
          </a:xfrm>
          <a:prstGeom prst="rect">
            <a:avLst/>
          </a:prstGeom>
          <a:solidFill>
            <a:srgbClr val="F4F7FB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5800" y="4774474"/>
            <a:ext cx="22860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Discovery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017520" y="4774474"/>
            <a:ext cx="41148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inventory of cloud, container, SaaS CIs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223760" y="4774474"/>
            <a:ext cx="30175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Disc., Azure RG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332720" y="4774474"/>
            <a:ext cx="11887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5290457"/>
            <a:ext cx="11064240" cy="515983"/>
          </a:xfrm>
          <a:prstGeom prst="rect">
            <a:avLst/>
          </a:prstGeom>
          <a:solidFill>
            <a:srgbClr val="FFF7E0"/>
          </a:solidFill>
          <a:ln w="12700">
            <a:solidFill>
              <a:srgbClr val="E8B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5800" y="5290457"/>
            <a:ext cx="22860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 Detector (SRE)  ◆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017520" y="5290457"/>
            <a:ext cx="41148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on tickets+chat+runbooks → ranked automation candidates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23760" y="5290457"/>
            <a:ext cx="30175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SNOW, Jira, Teams, Slack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332720" y="5290457"/>
            <a:ext cx="11887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8640" y="5943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+ CMDB → Baselines → Anomaly + Drift + Topology → Signal Fusion → Ranked Warnings + SRE Toil Report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PHASE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— agents &amp; responsibilities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agents. 1 SRE / RCA highlighted in gold.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AIOps + SRE Ops  •  Solution Design  •  v2.0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2376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332720" y="1783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11064240" cy="515983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22860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Forecaster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17520" y="2194560"/>
            <a:ext cx="41148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component/service failure probability and time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223760" y="2194560"/>
            <a:ext cx="30175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AppD, Dynatrace, Azure ML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332720" y="2194560"/>
            <a:ext cx="11887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710543"/>
            <a:ext cx="11064240" cy="515983"/>
          </a:xfrm>
          <a:prstGeom prst="rect">
            <a:avLst/>
          </a:prstGeom>
          <a:solidFill>
            <a:srgbClr val="F4F7FB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2710543"/>
            <a:ext cx="22860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2710543"/>
            <a:ext cx="41148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demand, right-size, procurement timing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223760" y="2710543"/>
            <a:ext cx="30175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Advisor, Turbonomic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332720" y="2710543"/>
            <a:ext cx="11887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226526"/>
            <a:ext cx="11064240" cy="515983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226526"/>
            <a:ext cx="22860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Breach Predictor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17520" y="3226526"/>
            <a:ext cx="41148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Error-budget burn + breach probability + freeze hints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23760" y="3226526"/>
            <a:ext cx="30175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Nobl9, Dynatrace SLO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332720" y="3226526"/>
            <a:ext cx="11887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742509"/>
            <a:ext cx="11064240" cy="515983"/>
          </a:xfrm>
          <a:prstGeom prst="rect">
            <a:avLst/>
          </a:prstGeom>
          <a:solidFill>
            <a:srgbClr val="F4F7FB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3742509"/>
            <a:ext cx="22860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Learner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17520" y="3742509"/>
            <a:ext cx="41148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Daily/weekly/business-calendar baselines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23760" y="3742509"/>
            <a:ext cx="30175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MLTK, Azure ML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332720" y="3742509"/>
            <a:ext cx="11887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258491"/>
            <a:ext cx="11064240" cy="515983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5800" y="4258491"/>
            <a:ext cx="22860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Predictor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017520" y="4258491"/>
            <a:ext cx="41148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ML + RCA corpus → pre-incident RC hypotheses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23760" y="4258491"/>
            <a:ext cx="30175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Dynatrace, Splunk ITSI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332720" y="4258491"/>
            <a:ext cx="11887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4774474"/>
            <a:ext cx="11064240" cy="515983"/>
          </a:xfrm>
          <a:prstGeom prst="rect">
            <a:avLst/>
          </a:prstGeom>
          <a:solidFill>
            <a:srgbClr val="F4F7FB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5800" y="4774474"/>
            <a:ext cx="22860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Predictor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017520" y="4774474"/>
            <a:ext cx="41148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Pre-CAB risk score, blast radius, rollback complexity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223760" y="4774474"/>
            <a:ext cx="30175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Change, Harness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332720" y="4774474"/>
            <a:ext cx="11887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5290457"/>
            <a:ext cx="11064240" cy="515983"/>
          </a:xfrm>
          <a:prstGeom prst="rect">
            <a:avLst/>
          </a:prstGeom>
          <a:solidFill>
            <a:srgbClr val="FFF7E0"/>
          </a:solidFill>
          <a:ln w="12700">
            <a:solidFill>
              <a:srgbClr val="E8B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5800" y="5290457"/>
            <a:ext cx="22860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Forecaster (SRE)  ◆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017520" y="5290457"/>
            <a:ext cx="411480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service reliability trajectory — weeks ahead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23760" y="5290457"/>
            <a:ext cx="30175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Nobl9, Dynatrace, Splunk ITSI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332720" y="5290457"/>
            <a:ext cx="11887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8640" y="5943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+ Topology + SLO + Change Velocity → Forecast models → Ranked predictions → SRE at-risk service list → Policy engine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PHASE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Prescriptive-Adaptive — agents &amp; responsibilities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agents. 2 SRE / RCA highlighted in gold.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AIOps + SRE Ops  •  Solution Design  •  v2.0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2376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332720" y="1783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11064240" cy="451485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22860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Recommender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17520" y="2194560"/>
            <a:ext cx="41148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actions by success/risk/cost with explanation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223760" y="2194560"/>
            <a:ext cx="30175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SNOW, Resolve, Ansible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332720" y="2194560"/>
            <a:ext cx="11887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646045"/>
            <a:ext cx="11064240" cy="451485"/>
          </a:xfrm>
          <a:prstGeom prst="rect">
            <a:avLst/>
          </a:prstGeom>
          <a:solidFill>
            <a:srgbClr val="F4F7FB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2646045"/>
            <a:ext cx="22860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Auto-Healer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2646045"/>
            <a:ext cx="41148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pre-approved self-healing with blast-radius caps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223760" y="2646045"/>
            <a:ext cx="30175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Ansible, Azure Auto, K8s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332720" y="2646045"/>
            <a:ext cx="11887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097530"/>
            <a:ext cx="11064240" cy="451485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097530"/>
            <a:ext cx="22860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Optimizer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17520" y="3097530"/>
            <a:ext cx="41148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thresholds, scaling, SLOs via A/B with guardrails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23760" y="3097530"/>
            <a:ext cx="30175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Policy, OPA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332720" y="3097530"/>
            <a:ext cx="11887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549015"/>
            <a:ext cx="11064240" cy="451485"/>
          </a:xfrm>
          <a:prstGeom prst="rect">
            <a:avLst/>
          </a:prstGeom>
          <a:solidFill>
            <a:srgbClr val="F4F7FB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3549015"/>
            <a:ext cx="22860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Learner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17520" y="3549015"/>
            <a:ext cx="41148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outcomes, retrain/re-prompt, shadow-eval promote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23760" y="3549015"/>
            <a:ext cx="30175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ML, MLflow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332720" y="3549015"/>
            <a:ext cx="11887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000500"/>
            <a:ext cx="11064240" cy="451485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5800" y="4000500"/>
            <a:ext cx="22860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Scaler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017520" y="4000500"/>
            <a:ext cx="41148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SLO+cost optimization across cloud mix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23760" y="4000500"/>
            <a:ext cx="30175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Advisor, Turbonomic, Spot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332720" y="4000500"/>
            <a:ext cx="11887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4451985"/>
            <a:ext cx="11064240" cy="451485"/>
          </a:xfrm>
          <a:prstGeom prst="rect">
            <a:avLst/>
          </a:prstGeom>
          <a:solidFill>
            <a:srgbClr val="F4F7FB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5800" y="4451985"/>
            <a:ext cx="22860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Synthesizer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017520" y="4451985"/>
            <a:ext cx="41148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RCA drafting, runbook &amp; KB generation, RAG refresh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223760" y="4451985"/>
            <a:ext cx="30175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KB, SharePoint, AI Search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332720" y="4451985"/>
            <a:ext cx="11887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4903470"/>
            <a:ext cx="11064240" cy="451485"/>
          </a:xfrm>
          <a:prstGeom prst="rect">
            <a:avLst/>
          </a:prstGeom>
          <a:solidFill>
            <a:srgbClr val="FFF7E0"/>
          </a:solidFill>
          <a:ln w="12700">
            <a:solidFill>
              <a:srgbClr val="E8B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5800" y="4903470"/>
            <a:ext cx="22860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Orchestrator (SRE)  ◆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017520" y="4903470"/>
            <a:ext cx="41148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Risk-guided chaos experiments with blast-radius caps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23760" y="4903470"/>
            <a:ext cx="30175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Gremlin, Azure Chaos, AWS FIS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332720" y="4903470"/>
            <a:ext cx="11887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5354955"/>
            <a:ext cx="11064240" cy="451485"/>
          </a:xfrm>
          <a:prstGeom prst="rect">
            <a:avLst/>
          </a:prstGeom>
          <a:solidFill>
            <a:srgbClr val="FFF7E0"/>
          </a:solidFill>
          <a:ln w="12700">
            <a:solidFill>
              <a:srgbClr val="E8B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5800" y="5354955"/>
            <a:ext cx="22860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Agent  ★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017520" y="5354955"/>
            <a:ext cx="41148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RCA + executable fix steps with rollback plans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223760" y="5354955"/>
            <a:ext cx="30175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Davis, Splunk, SNOW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0332720" y="5354955"/>
            <a:ext cx="11887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48640" y="5943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Warnings+Predictions → RCA Agent produces fix plan → HITL gate → Auto-Healer executes → Verify → Chaos validates → Feedback → Retrain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integration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vendors per integration point. Every slot has at least one alternative.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AIOps + SRE Ops  •  Solution Design  •  v2.0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38404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1828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(REFERENCE)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0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0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212848"/>
            <a:ext cx="11064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212848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&amp; Change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0" y="2212848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75120" y="2212848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Service Management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0" y="2212848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Helix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551176"/>
            <a:ext cx="11064240" cy="338328"/>
          </a:xfrm>
          <a:prstGeom prst="rect">
            <a:avLst/>
          </a:prstGeom>
          <a:solidFill>
            <a:srgbClr val="F4F7FB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2551176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Perf.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0" y="2551176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AppDynamics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75120" y="2551176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0" y="2551176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Relic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889504"/>
            <a:ext cx="11064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2889504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Cloud Obs.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0480" y="2889504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75120" y="2889504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0" y="2889504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227832"/>
            <a:ext cx="11064240" cy="338328"/>
          </a:xfrm>
          <a:prstGeom prst="rect">
            <a:avLst/>
          </a:prstGeom>
          <a:solidFill>
            <a:srgbClr val="F4F7FB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3227832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40480" y="3227832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75120" y="3227832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44000" y="3227832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Logic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566160"/>
            <a:ext cx="11064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3566160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&amp; On-Call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840480" y="3566160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75120" y="3566160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Opsgenie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144000" y="3566160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VictorOps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3904488"/>
            <a:ext cx="11064240" cy="338328"/>
          </a:xfrm>
          <a:prstGeom prst="rect">
            <a:avLst/>
          </a:prstGeom>
          <a:solidFill>
            <a:srgbClr val="F4F7FB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1520" y="3904488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840480" y="3904488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675120" y="3904488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Automation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144000" y="3904488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Rundeck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4242816"/>
            <a:ext cx="11064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1520" y="4242816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840480" y="4242816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675120" y="4242816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144000" y="4242816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4581144"/>
            <a:ext cx="11064240" cy="338328"/>
          </a:xfrm>
          <a:prstGeom prst="rect">
            <a:avLst/>
          </a:prstGeom>
          <a:solidFill>
            <a:srgbClr val="F4F7FB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31520" y="4581144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Model Ops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840480" y="4581144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675120" y="4581144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144000" y="4581144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+ MLflow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4919472"/>
            <a:ext cx="11064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31520" y="4919472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840480" y="4919472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Policy Agent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675120" y="4919472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144000" y="4919472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Sentinel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48640" y="5257800"/>
            <a:ext cx="11064240" cy="338328"/>
          </a:xfrm>
          <a:prstGeom prst="rect">
            <a:avLst/>
          </a:prstGeom>
          <a:solidFill>
            <a:srgbClr val="FFF7E0"/>
          </a:solidFill>
          <a:ln w="6350">
            <a:solidFill>
              <a:srgbClr val="E8B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31520" y="5257800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Platform (SRE)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840480" y="5257800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Nobl9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675120" y="5257800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SLO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9144000" y="5257800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SLO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48640" y="5596128"/>
            <a:ext cx="11064240" cy="338328"/>
          </a:xfrm>
          <a:prstGeom prst="rect">
            <a:avLst/>
          </a:prstGeom>
          <a:solidFill>
            <a:srgbClr val="FFF7E0"/>
          </a:solidFill>
          <a:ln w="6350">
            <a:solidFill>
              <a:srgbClr val="E8B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31520" y="5596128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Eng. (SRE)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3840480" y="5596128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Gremlin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675120" y="5596128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Chaos Studio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9144000" y="5596128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FIS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SRE-specific layers highlighted in gold. Customer existing stack always honored via Secondary Integrations in the catalog.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 checkpoints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levels tuned per action type and risk. RCA Agent fix steps require approval by default.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AIOps + SRE Ops  •  Solution Design  •  v2.0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645920" cy="12801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19659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analysis, noise suppression, notifications, evidence assembly.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2606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Discovery  •  Noise Reducer  •  Notification Router  •  Log Correlation  •  Seasonality Learner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64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645920" cy="12801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3383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executes or recommends by default; human gate can be switched on per tenant/policy.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4023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Triage  •  Anomaly Detector  •  Auto-Healer  •  Early Warning  •  Toil Detector ◆  •  Reliability Forecaster ◆  •  Cost-Aware Scaler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1645920" cy="12801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51663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mandatory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77440" y="4800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Destructive, irreversible, or policy-critical actions — including every RCA Agent fix step before Auto-Healer executes.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77440" y="5212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5440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Executor  •  Capacity Planner  •  SLO Breach Predictor  •  Change Impact Predictor  •  Remediation Recommender  •  Policy Optimizer  •  Feedback Learner  •  Knowledge Synthesizer  •  Chaos Orchestrator ◆  •  RCA Agent 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= SRE Ops agent   ★ = RCA Agent. Policy-as-code enforces these gates at the platform — agents cannot bypass by design.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Rollout — four stages, twenty weeks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has entry/exit criteria and SRE-aware outcomes.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AIOps + SRE Ops  •  Solution Design  •  v2.0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974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W0–4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1–2 observability sources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Triage + Auto-Ticketing + SRE Incident Commander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+ audit plane live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MTTA/MTTR/noise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5212080"/>
            <a:ext cx="2423160" cy="18288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52578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5486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≥40% noise reduction in pilot scope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182880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29000" y="1828800"/>
            <a:ext cx="26974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29000" y="18288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4231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W5–10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288036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+ Dependency Mapper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+ Drift + Early Warning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 Detector onboarded (SRE)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War-room + log correlation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0" y="5212080"/>
            <a:ext cx="2423160" cy="18288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0" y="52578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0" y="5486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prevented Sev-1/month; toil ROI dashboard live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182880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09360" y="1828800"/>
            <a:ext cx="26974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18288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4231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W11–18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288036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+ Capacity + SLO forecasters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Predictor + RCA corpus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Forecaster live (SRE)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into CAB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46520" y="5212080"/>
            <a:ext cx="2423160" cy="18288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37960" y="52578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37960" y="5486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≥70% top-3 RCA accuracy; change-failure rate −30%; reliability trajectory dashboards live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89720" y="182880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189720" y="1828800"/>
            <a:ext cx="26974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189720" y="18288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+ RCA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89720" y="24231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W19+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418320" y="288036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Agent in production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Auto-Healer + Chaos Orchestrator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Optimizer shadow → live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loop 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326880" y="5212080"/>
            <a:ext cx="2423160" cy="18288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418320" y="52578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418320" y="5486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fix-step acceptance ≥70%; chaos impact = 0; self-tune QoQ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&amp; KPIs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measure, how often, and who owns it.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AIOps + SRE Ops  •  Solution Design  •  v2.0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4068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22860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 for Sev-1/2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633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(inc. RCA Agent)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26334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 to −55% vs baseline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29809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noise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29809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−60 to −75%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33284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 success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0" y="332841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85% on enabled actions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1828800"/>
            <a:ext cx="544068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1828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286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RCA accuracy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18320" y="22860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75% (RCA Agent)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0" y="2633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fix-step acceptance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18320" y="26334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0" y="29809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SLO-breach prediction precision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18320" y="29809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65%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33284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Sev-1/month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18320" y="332841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post-stage-2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8640" y="3931920"/>
            <a:ext cx="544068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3931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RELIABILITY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 hours eliminated / Q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49040" y="43891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500 hrs by stage-3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31520" y="47365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Reliability-forecast accuracy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49040" y="47365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" y="50840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coverage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49040" y="508406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 of Tier-1 services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1520" y="54315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Unintended chaos impact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49040" y="543153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(hard target)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0" y="393192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17920" y="3931920"/>
            <a:ext cx="544068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0" y="3931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&amp; SAFETY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418320" y="43891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0" y="47365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violations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418320" y="47365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(hard target)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00800" y="50840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override rate trend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418320" y="508406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downward QoQ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400800" y="54315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alarms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418320" y="543153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per model/Q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mitigations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wrong, and how we've engineered against it.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AIOps + SRE Ops  •  Solution Design  •  v2.0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38404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0" y="18288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0" y="18288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212848"/>
            <a:ext cx="1106424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212848"/>
            <a:ext cx="32004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agent actions (incl. RCA fix steps)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0" y="2212848"/>
            <a:ext cx="11887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0" y="2212848"/>
            <a:ext cx="10058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212848"/>
            <a:ext cx="51206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Agent requires HITL approval. Policy-as-code gates. Dry-run simulation. Shadow eval before any promotion.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75788"/>
            <a:ext cx="11064240" cy="662940"/>
          </a:xfrm>
          <a:prstGeom prst="rect">
            <a:avLst/>
          </a:prstGeom>
          <a:solidFill>
            <a:srgbClr val="F4F7FB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2875788"/>
            <a:ext cx="32004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on agent layer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23360" y="2875788"/>
            <a:ext cx="11887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0" y="2875788"/>
            <a:ext cx="10058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2875788"/>
            <a:ext cx="51206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Abstracted tool registry; ≥2 alternatives per integration; open contracts (MCP / REST+OpenAPI) for third-party agents.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538728"/>
            <a:ext cx="1106424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538728"/>
            <a:ext cx="32004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experiment causes real incident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23360" y="3538728"/>
            <a:ext cx="11887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0" y="3538728"/>
            <a:ext cx="10058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3538728"/>
            <a:ext cx="51206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Orchestrator uses blast-radius caps, safe-mode library, on-call approval, auto-abort on adverse signals.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201668"/>
            <a:ext cx="11064240" cy="662940"/>
          </a:xfrm>
          <a:prstGeom prst="rect">
            <a:avLst/>
          </a:prstGeom>
          <a:solidFill>
            <a:srgbClr val="F4F7FB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4201668"/>
            <a:ext cx="32004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via prompts/telemetry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23360" y="4201668"/>
            <a:ext cx="11887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0" y="4201668"/>
            <a:ext cx="10058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4201668"/>
            <a:ext cx="51206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guardrail, tenant isolation, secrets vault, deterministic retention, encryption at rest + in transit.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864608"/>
            <a:ext cx="1106424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4864608"/>
            <a:ext cx="32004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degrades outcomes silently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023360" y="4864608"/>
            <a:ext cx="11887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0" y="4864608"/>
            <a:ext cx="10058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4864608"/>
            <a:ext cx="51206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 harness, drift-triggered retraining, champion/challenger rollouts, canary + automatic rollback.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527548"/>
            <a:ext cx="11064240" cy="662940"/>
          </a:xfrm>
          <a:prstGeom prst="rect">
            <a:avLst/>
          </a:prstGeom>
          <a:solidFill>
            <a:srgbClr val="F4F7FB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1520" y="5527548"/>
            <a:ext cx="32004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Over-automation erodes SRE skills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023360" y="5527548"/>
            <a:ext cx="11887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03520" y="5527548"/>
            <a:ext cx="10058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5527548"/>
            <a:ext cx="51206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Training-mode; visible RCA reasoning on every action; scheduled manual exercises; Toil Detector prioritizes judgment work.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SUMMARY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6400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solution built for motion.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four phases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983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woven through; RCA Agent dedicated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2044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520440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4983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≥2 alternatives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126480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full adaptive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4983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shipped every stage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3252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732520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coverage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32520" y="4983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guardrails, audit, HITL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2152</Words>
  <Application>Microsoft Office PowerPoint</Application>
  <PresentationFormat>Widescreen</PresentationFormat>
  <Paragraphs>439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AIOps — Solution Design</dc:title>
  <dc:subject>PptxGenJS Presentation</dc:subject>
  <dc:creator>PptxGenJS</dc:creator>
  <cp:lastModifiedBy>Ragavendra Swamy K</cp:lastModifiedBy>
  <cp:revision>2</cp:revision>
  <dcterms:created xsi:type="dcterms:W3CDTF">2026-04-24T19:08:05Z</dcterms:created>
  <dcterms:modified xsi:type="dcterms:W3CDTF">2026-04-27T07:39:57Z</dcterms:modified>
</cp:coreProperties>
</file>